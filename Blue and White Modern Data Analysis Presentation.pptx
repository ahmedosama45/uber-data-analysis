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Dekko" charset="1" panose="00000500000000000000"/>
      <p:regular r:id="rId20"/>
    </p:embeddedFont>
    <p:embeddedFont>
      <p:font typeface="Arimo" charset="1" panose="020B0604020202020204"/>
      <p:regular r:id="rId21"/>
    </p:embeddedFont>
    <p:embeddedFont>
      <p:font typeface="Arimo Bold" charset="1" panose="020B0704020202020204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2000"/>
                  </a:srgbClr>
                </a:gs>
                <a:gs pos="50000">
                  <a:srgbClr val="001496">
                    <a:alpha val="82000"/>
                  </a:srgbClr>
                </a:gs>
                <a:gs pos="100000">
                  <a:srgbClr val="000F70">
                    <a:alpha val="82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0307" y="1526078"/>
            <a:ext cx="17567386" cy="700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8"/>
              </a:lnSpc>
            </a:pPr>
          </a:p>
          <a:p>
            <a:pPr algn="ctr" marL="0" indent="0" lvl="0">
              <a:lnSpc>
                <a:spcPts val="11218"/>
              </a:lnSpc>
              <a:spcBef>
                <a:spcPct val="0"/>
              </a:spcBef>
            </a:pPr>
            <a:r>
              <a:rPr lang="en-US" b="true" sz="8013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Uber Ride Data Analysis</a:t>
            </a:r>
            <a:r>
              <a:rPr lang="en-US" b="true" sz="8013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 marL="0" indent="0" lvl="0">
              <a:lnSpc>
                <a:spcPts val="8139"/>
              </a:lnSpc>
              <a:spcBef>
                <a:spcPct val="0"/>
              </a:spcBef>
            </a:pPr>
            <a:r>
              <a:rPr lang="en-US" b="true" sz="5813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5813" strike="noStrike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Strategic Insights for NCR Region</a:t>
            </a:r>
          </a:p>
          <a:p>
            <a:pPr algn="ctr" marL="0" indent="0" lvl="0">
              <a:lnSpc>
                <a:spcPts val="8139"/>
              </a:lnSpc>
              <a:spcBef>
                <a:spcPct val="0"/>
              </a:spcBef>
            </a:pPr>
            <a:r>
              <a:rPr lang="en-US" sz="5813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(Jan 2024 – Dec 2024)</a:t>
            </a:r>
          </a:p>
          <a:p>
            <a:pPr algn="ctr" marL="0" indent="0" lvl="0">
              <a:lnSpc>
                <a:spcPts val="813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8139"/>
              </a:lnSpc>
              <a:spcBef>
                <a:spcPct val="0"/>
              </a:spcBef>
            </a:pPr>
            <a:r>
              <a:rPr lang="en-US" b="true" sz="5813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NXT39_ONL3_DAT1_S8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2978336" cy="3016463"/>
          </a:xfrm>
          <a:custGeom>
            <a:avLst/>
            <a:gdLst/>
            <a:ahLst/>
            <a:cxnLst/>
            <a:rect r="r" b="b" t="t" l="l"/>
            <a:pathLst>
              <a:path h="3016463" w="2978336">
                <a:moveTo>
                  <a:pt x="0" y="0"/>
                </a:moveTo>
                <a:lnTo>
                  <a:pt x="2978336" y="0"/>
                </a:lnTo>
                <a:lnTo>
                  <a:pt x="2978336" y="3016463"/>
                </a:lnTo>
                <a:lnTo>
                  <a:pt x="0" y="3016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6" t="0" r="-866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65286" y="7200900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3979" y="1624682"/>
            <a:ext cx="10283352" cy="125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98"/>
              </a:lnSpc>
            </a:pPr>
            <a:r>
              <a:rPr lang="en-US" b="true" sz="86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Analatica Team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19344" y="3412259"/>
            <a:ext cx="8735169" cy="482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Ahmed Osama Mohamed Mobarez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Fawzy Mohamed Ahmed Shams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Anton Samy Tawfeek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Ahmed Hessien Ahmed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Essam Mohamed Ahmed </a:t>
            </a:r>
          </a:p>
          <a:p>
            <a:pPr algn="l" marL="993139" indent="-496570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Hassan Ashraf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D32">
                <a:alpha val="100000"/>
              </a:srgbClr>
            </a:gs>
            <a:gs pos="100000">
              <a:srgbClr val="00149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2611" y="2869803"/>
            <a:ext cx="5961378" cy="6318882"/>
            <a:chOff x="0" y="0"/>
            <a:chExt cx="923573" cy="978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3573" cy="978960"/>
            </a:xfrm>
            <a:custGeom>
              <a:avLst/>
              <a:gdLst/>
              <a:ahLst/>
              <a:cxnLst/>
              <a:rect r="r" b="b" t="t" l="l"/>
              <a:pathLst>
                <a:path h="978960" w="923573">
                  <a:moveTo>
                    <a:pt x="103894" y="0"/>
                  </a:moveTo>
                  <a:lnTo>
                    <a:pt x="819679" y="0"/>
                  </a:lnTo>
                  <a:cubicBezTo>
                    <a:pt x="847233" y="0"/>
                    <a:pt x="873659" y="10946"/>
                    <a:pt x="893143" y="30430"/>
                  </a:cubicBezTo>
                  <a:cubicBezTo>
                    <a:pt x="912627" y="49914"/>
                    <a:pt x="923573" y="76340"/>
                    <a:pt x="923573" y="103894"/>
                  </a:cubicBezTo>
                  <a:lnTo>
                    <a:pt x="923573" y="875066"/>
                  </a:lnTo>
                  <a:cubicBezTo>
                    <a:pt x="923573" y="902620"/>
                    <a:pt x="912627" y="929046"/>
                    <a:pt x="893143" y="948530"/>
                  </a:cubicBezTo>
                  <a:cubicBezTo>
                    <a:pt x="873659" y="968014"/>
                    <a:pt x="847233" y="978960"/>
                    <a:pt x="819679" y="978960"/>
                  </a:cubicBezTo>
                  <a:lnTo>
                    <a:pt x="103894" y="978960"/>
                  </a:lnTo>
                  <a:cubicBezTo>
                    <a:pt x="76340" y="978960"/>
                    <a:pt x="49914" y="968014"/>
                    <a:pt x="30430" y="948530"/>
                  </a:cubicBezTo>
                  <a:cubicBezTo>
                    <a:pt x="10946" y="929046"/>
                    <a:pt x="0" y="902620"/>
                    <a:pt x="0" y="875066"/>
                  </a:cubicBezTo>
                  <a:lnTo>
                    <a:pt x="0" y="103894"/>
                  </a:lnTo>
                  <a:cubicBezTo>
                    <a:pt x="0" y="76340"/>
                    <a:pt x="10946" y="49914"/>
                    <a:pt x="30430" y="30430"/>
                  </a:cubicBezTo>
                  <a:cubicBezTo>
                    <a:pt x="49914" y="10946"/>
                    <a:pt x="76340" y="0"/>
                    <a:pt x="10389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4167" r="0" b="-408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65286" y="7200900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4458" y="3092132"/>
            <a:ext cx="9988639" cy="618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DFCB64"/>
                </a:solidFill>
                <a:latin typeface="Arimo"/>
                <a:ea typeface="Arimo"/>
                <a:cs typeface="Arimo"/>
                <a:sym typeface="Arimo"/>
              </a:rPr>
              <a:t>Overview Dashboard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Identify monthly trends and provide insights for strategic decisions.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DFCB64"/>
                </a:solidFill>
                <a:latin typeface="Arimo"/>
                <a:ea typeface="Arimo"/>
                <a:cs typeface="Arimo"/>
                <a:sym typeface="Arimo"/>
              </a:rPr>
              <a:t>Vehicle Dashboard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Optimize fleet mix, improve ratings, and support growth.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DFCB64"/>
                </a:solidFill>
                <a:latin typeface="Arimo"/>
                <a:ea typeface="Arimo"/>
                <a:cs typeface="Arimo"/>
                <a:sym typeface="Arimo"/>
              </a:rPr>
              <a:t>Cancellation Dashboard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Reduce cancellations and enhance service quality.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DFCB64"/>
                </a:solidFill>
                <a:latin typeface="Arimo"/>
                <a:ea typeface="Arimo"/>
                <a:cs typeface="Arimo"/>
                <a:sym typeface="Arimo"/>
              </a:rPr>
              <a:t>Revenue &amp; Distance Dashboard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Improve fleet operations and customer experience.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DFCB64"/>
                </a:solidFill>
                <a:latin typeface="Arimo"/>
                <a:ea typeface="Arimo"/>
                <a:cs typeface="Arimo"/>
                <a:sym typeface="Arimo"/>
              </a:rPr>
              <a:t>Search Feature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Provide granular details for specific trip inquiries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44458" y="1076325"/>
            <a:ext cx="12194626" cy="133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22342" y="954140"/>
            <a:ext cx="13528792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Profile &amp; 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142930"/>
            <a:ext cx="16230600" cy="678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Da</a:t>
            </a:r>
            <a:r>
              <a:rPr lang="en-US" b="true" sz="34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taset Overview: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Source: Uber Ride Data – NCR Region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Volume: ~150,000 processed records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Key Metrics: Booking status, vehicle type, location, ratings, revenue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760"/>
              </a:lnSpc>
            </a:pPr>
            <a:r>
              <a:rPr lang="en-US" b="true" sz="34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Technical Workflow: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 Ex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ploration: Profiling 21 features, analyzing missing values (VTAT, CTAT)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 Cleaning:</a:t>
            </a:r>
          </a:p>
          <a:p>
            <a:pPr algn="l" marL="1338595" indent="-446198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Imputati</a:t>
            </a:r>
            <a:r>
              <a:rPr lang="en-US" b="true" sz="3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on via group means (Vehicle/Location)</a:t>
            </a:r>
          </a:p>
          <a:p>
            <a:pPr algn="l" marL="1338595" indent="-446198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Route-bas</a:t>
            </a:r>
            <a:r>
              <a:rPr lang="en-US" b="true" sz="31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ed distance imputation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Validation: Removing logical inconsistencies to ensure high data integrity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118007" y="2255242"/>
            <a:ext cx="9654706" cy="1482415"/>
          </a:xfrm>
          <a:custGeom>
            <a:avLst/>
            <a:gdLst/>
            <a:ahLst/>
            <a:cxnLst/>
            <a:rect r="r" b="b" t="t" l="l"/>
            <a:pathLst>
              <a:path h="1482415" w="9654706">
                <a:moveTo>
                  <a:pt x="0" y="0"/>
                </a:moveTo>
                <a:lnTo>
                  <a:pt x="9654706" y="0"/>
                </a:lnTo>
                <a:lnTo>
                  <a:pt x="9654706" y="1482415"/>
                </a:lnTo>
                <a:lnTo>
                  <a:pt x="0" y="1482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88061" y="4881420"/>
            <a:ext cx="7171239" cy="3606346"/>
          </a:xfrm>
          <a:custGeom>
            <a:avLst/>
            <a:gdLst/>
            <a:ahLst/>
            <a:cxnLst/>
            <a:rect r="r" b="b" t="t" l="l"/>
            <a:pathLst>
              <a:path h="3606346" w="7171239">
                <a:moveTo>
                  <a:pt x="0" y="0"/>
                </a:moveTo>
                <a:lnTo>
                  <a:pt x="7171239" y="0"/>
                </a:lnTo>
                <a:lnTo>
                  <a:pt x="7171239" y="3606346"/>
                </a:lnTo>
                <a:lnTo>
                  <a:pt x="0" y="36063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22342" y="954140"/>
            <a:ext cx="13528792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Executive Overview (KPIs)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169517"/>
            <a:ext cx="6927354" cy="631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Total Rides</a:t>
            </a:r>
            <a:r>
              <a:rPr lang="en-US" b="true" sz="3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149,000</a:t>
            </a: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Total Customers</a:t>
            </a:r>
            <a:r>
              <a:rPr lang="en-US" b="true" sz="3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148,000</a:t>
            </a: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Total Booking Value</a:t>
            </a:r>
            <a:r>
              <a:rPr lang="en-US" b="true" sz="3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$76 million</a:t>
            </a:r>
          </a:p>
          <a:p>
            <a:pPr algn="l">
              <a:lnSpc>
                <a:spcPts val="4760"/>
              </a:lnSpc>
            </a:pP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Booking Status Breakdown:</a:t>
            </a:r>
          </a:p>
          <a:p>
            <a:pPr algn="l" marL="669298" indent="-334649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Completed: 62.01%</a:t>
            </a:r>
          </a:p>
          <a:p>
            <a:pPr algn="l" marL="669298" indent="-334649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Cancelled: 25%</a:t>
            </a:r>
          </a:p>
          <a:p>
            <a:pPr algn="l" marL="669298" indent="-334649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Incomplete: 12.99%</a:t>
            </a:r>
          </a:p>
          <a:p>
            <a:pPr algn="l" marL="0" indent="0" lvl="0">
              <a:lnSpc>
                <a:spcPts val="4760"/>
              </a:lnSpc>
            </a:pPr>
            <a:r>
              <a:rPr lang="en-US" b="true" sz="34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Monthly Trend Highlights:</a:t>
            </a:r>
          </a:p>
          <a:p>
            <a:pPr algn="l" marL="669298" indent="-334649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Peak: July (12,800 rides)</a:t>
            </a:r>
          </a:p>
          <a:p>
            <a:pPr algn="l" marL="669298" indent="-334649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Followed by: October (12,544 rides)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670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614495" y="3648749"/>
            <a:ext cx="4644805" cy="5160894"/>
          </a:xfrm>
          <a:custGeom>
            <a:avLst/>
            <a:gdLst/>
            <a:ahLst/>
            <a:cxnLst/>
            <a:rect r="r" b="b" t="t" l="l"/>
            <a:pathLst>
              <a:path h="5160894" w="4644805">
                <a:moveTo>
                  <a:pt x="0" y="0"/>
                </a:moveTo>
                <a:lnTo>
                  <a:pt x="4644805" y="0"/>
                </a:lnTo>
                <a:lnTo>
                  <a:pt x="4644805" y="5160894"/>
                </a:lnTo>
                <a:lnTo>
                  <a:pt x="0" y="5160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2342" y="3600923"/>
            <a:ext cx="5209092" cy="5073803"/>
          </a:xfrm>
          <a:custGeom>
            <a:avLst/>
            <a:gdLst/>
            <a:ahLst/>
            <a:cxnLst/>
            <a:rect r="r" b="b" t="t" l="l"/>
            <a:pathLst>
              <a:path h="5073803" w="5209092">
                <a:moveTo>
                  <a:pt x="0" y="0"/>
                </a:moveTo>
                <a:lnTo>
                  <a:pt x="5209092" y="0"/>
                </a:lnTo>
                <a:lnTo>
                  <a:pt x="5209092" y="5073803"/>
                </a:lnTo>
                <a:lnTo>
                  <a:pt x="0" y="50738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716" r="-1276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42091" y="3640188"/>
            <a:ext cx="4828612" cy="5169455"/>
          </a:xfrm>
          <a:custGeom>
            <a:avLst/>
            <a:gdLst/>
            <a:ahLst/>
            <a:cxnLst/>
            <a:rect r="r" b="b" t="t" l="l"/>
            <a:pathLst>
              <a:path h="5169455" w="4828612">
                <a:moveTo>
                  <a:pt x="0" y="0"/>
                </a:moveTo>
                <a:lnTo>
                  <a:pt x="4828612" y="0"/>
                </a:lnTo>
                <a:lnTo>
                  <a:pt x="4828612" y="5169455"/>
                </a:lnTo>
                <a:lnTo>
                  <a:pt x="0" y="51694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22342" y="954140"/>
            <a:ext cx="1546680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Vehicle Performance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2259" y="2199009"/>
            <a:ext cx="8731741" cy="112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M</a:t>
            </a:r>
            <a:r>
              <a:rPr lang="en-US" b="true" sz="32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ost Popular Vehicle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Auto (37K rides)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Highest R</a:t>
            </a:r>
            <a:r>
              <a:rPr lang="en-US" b="true" sz="32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evenue Generator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Auto ($19M)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33851" y="2199009"/>
            <a:ext cx="5834911" cy="112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7" indent="-345444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0" strike="noStrike" u="non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Customer </a:t>
            </a:r>
            <a:r>
              <a:rPr lang="en-US" b="true" sz="3200" strike="noStrike" u="non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Rating</a:t>
            </a:r>
            <a:r>
              <a:rPr lang="en-US" b="true" sz="32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: 4.40 / 5</a:t>
            </a:r>
          </a:p>
          <a:p>
            <a:pPr algn="l" marL="690887" indent="-345444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00" strike="noStrike" u="non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Driver Rating</a:t>
            </a:r>
            <a:r>
              <a:rPr lang="en-US" b="true" sz="32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: 4.23 / 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849012" y="3023152"/>
            <a:ext cx="6609242" cy="5108984"/>
          </a:xfrm>
          <a:custGeom>
            <a:avLst/>
            <a:gdLst/>
            <a:ahLst/>
            <a:cxnLst/>
            <a:rect r="r" b="b" t="t" l="l"/>
            <a:pathLst>
              <a:path h="5108984" w="6609242">
                <a:moveTo>
                  <a:pt x="0" y="0"/>
                </a:moveTo>
                <a:lnTo>
                  <a:pt x="6609242" y="0"/>
                </a:lnTo>
                <a:lnTo>
                  <a:pt x="6609242" y="5108985"/>
                </a:lnTo>
                <a:lnTo>
                  <a:pt x="0" y="51089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22342" y="954140"/>
            <a:ext cx="13528792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Cancellation Insights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159992"/>
            <a:ext cx="6968728" cy="665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D</a:t>
            </a:r>
            <a:r>
              <a:rPr lang="en-US" sz="33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istribution</a:t>
            </a: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Driver Cancellations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72.03%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Customer Cancellations: 27.97%</a:t>
            </a:r>
          </a:p>
          <a:p>
            <a:pPr algn="l">
              <a:lnSpc>
                <a:spcPts val="4480"/>
              </a:lnSpc>
            </a:pPr>
          </a:p>
          <a:p>
            <a:pPr algn="l" marL="0" indent="0" lvl="0">
              <a:lnSpc>
                <a:spcPts val="4620"/>
              </a:lnSpc>
            </a:pPr>
            <a:r>
              <a:rPr lang="en-US" b="true" sz="33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  <a:r>
              <a:rPr lang="en-US" b="true" sz="33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op Reasons</a:t>
            </a: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Driv</a:t>
            </a:r>
            <a:r>
              <a:rPr lang="en-US" b="true" sz="32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ers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</a:p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          </a:t>
            </a: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Personal issues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     car issues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     customer-related issues</a:t>
            </a:r>
          </a:p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Customers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Wrong Address (22.57%)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Change of Plans (22.35%)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47583" y="2406577"/>
            <a:ext cx="8000119" cy="2374367"/>
          </a:xfrm>
          <a:custGeom>
            <a:avLst/>
            <a:gdLst/>
            <a:ahLst/>
            <a:cxnLst/>
            <a:rect r="r" b="b" t="t" l="l"/>
            <a:pathLst>
              <a:path h="2374367" w="8000119">
                <a:moveTo>
                  <a:pt x="0" y="0"/>
                </a:moveTo>
                <a:lnTo>
                  <a:pt x="8000120" y="0"/>
                </a:lnTo>
                <a:lnTo>
                  <a:pt x="8000120" y="2374367"/>
                </a:lnTo>
                <a:lnTo>
                  <a:pt x="0" y="23743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47583" y="5374762"/>
            <a:ext cx="8081764" cy="4007488"/>
          </a:xfrm>
          <a:custGeom>
            <a:avLst/>
            <a:gdLst/>
            <a:ahLst/>
            <a:cxnLst/>
            <a:rect r="r" b="b" t="t" l="l"/>
            <a:pathLst>
              <a:path h="4007488" w="8081764">
                <a:moveTo>
                  <a:pt x="0" y="0"/>
                </a:moveTo>
                <a:lnTo>
                  <a:pt x="8081765" y="0"/>
                </a:lnTo>
                <a:lnTo>
                  <a:pt x="8081765" y="4007489"/>
                </a:lnTo>
                <a:lnTo>
                  <a:pt x="0" y="40074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932" r="-78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2342" y="954140"/>
            <a:ext cx="1549264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&amp; Financial Metrics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7676" y="2299336"/>
            <a:ext cx="7746324" cy="635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Avg Book</a:t>
            </a:r>
            <a:r>
              <a:rPr lang="en-US" b="true" sz="33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ing Value</a:t>
            </a: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$508</a:t>
            </a:r>
          </a:p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  <a:r>
              <a:rPr lang="en-US" b="true" sz="33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vg Ride Distance</a:t>
            </a: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24.66 km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sz="33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ayment Method Share</a:t>
            </a: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  <a:p>
            <a:pPr algn="l" marL="712476" indent="-356238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UPI: 62.6%</a:t>
            </a:r>
          </a:p>
          <a:p>
            <a:pPr algn="l" marL="712476" indent="-356238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Cash: 16.91%</a:t>
            </a:r>
          </a:p>
          <a:p>
            <a:pPr algn="l">
              <a:lnSpc>
                <a:spcPts val="4620"/>
              </a:lnSpc>
            </a:pPr>
          </a:p>
          <a:p>
            <a:pPr algn="l" marL="0" indent="0" lvl="0">
              <a:lnSpc>
                <a:spcPts val="4620"/>
              </a:lnSpc>
            </a:pPr>
            <a:r>
              <a:rPr lang="en-US" b="true" sz="33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  <a:r>
              <a:rPr lang="en-US" b="true" sz="33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op Locations</a:t>
            </a: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  <a:p>
            <a:pPr algn="l" marL="712476" indent="-356238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Akshardham and Janakpuri &gt; $500 average values.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26811" y="5925687"/>
            <a:ext cx="8619642" cy="3640665"/>
          </a:xfrm>
          <a:custGeom>
            <a:avLst/>
            <a:gdLst/>
            <a:ahLst/>
            <a:cxnLst/>
            <a:rect r="r" b="b" t="t" l="l"/>
            <a:pathLst>
              <a:path h="3640665" w="8619642">
                <a:moveTo>
                  <a:pt x="0" y="0"/>
                </a:moveTo>
                <a:lnTo>
                  <a:pt x="8619642" y="0"/>
                </a:lnTo>
                <a:lnTo>
                  <a:pt x="8619642" y="3640664"/>
                </a:lnTo>
                <a:lnTo>
                  <a:pt x="0" y="3640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2342" y="954140"/>
            <a:ext cx="1567352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Search &amp; Granular 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248654"/>
            <a:ext cx="11230570" cy="119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b="true" sz="3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  <a:r>
              <a:rPr lang="en-US" b="true" sz="3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earch any Booking ID </a:t>
            </a:r>
          </a:p>
          <a:p>
            <a:pPr algn="l">
              <a:lnSpc>
                <a:spcPts val="4760"/>
              </a:lnSpc>
            </a:pPr>
            <a:r>
              <a:rPr lang="en-US" b="true" sz="3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Shows:</a:t>
            </a:r>
            <a:r>
              <a:rPr lang="en-US" sz="3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Status, Revenue, Vehicle, </a:t>
            </a:r>
            <a:r>
              <a:rPr lang="en-US" sz="3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Customer/Driver Rating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637782"/>
            <a:ext cx="8407932" cy="228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760"/>
              </a:lnSpc>
              <a:spcBef>
                <a:spcPct val="0"/>
              </a:spcBef>
            </a:pPr>
            <a:r>
              <a:rPr lang="en-US" b="true" sz="3400" strike="noStrike" u="non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Useful for:</a:t>
            </a:r>
          </a:p>
          <a:p>
            <a:pPr algn="l" marL="0" indent="0" lvl="1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Customer support</a:t>
            </a:r>
          </a:p>
          <a:p>
            <a:pPr algn="l" marL="0" indent="0" lvl="1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Investigating incomplete/cancelled rides</a:t>
            </a:r>
          </a:p>
          <a:p>
            <a:pPr algn="l" marL="0" indent="0" lvl="1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2342" y="954140"/>
            <a:ext cx="1549264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Strategic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667" y="2489603"/>
            <a:ext cx="16302633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E7C449"/>
                </a:solidFill>
                <a:latin typeface="Canva Sans"/>
                <a:ea typeface="Canva Sans"/>
                <a:cs typeface="Canva Sans"/>
                <a:sym typeface="Canva Sans"/>
              </a:rPr>
              <a:t>Reduce Cancellations: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Penalties f</a:t>
            </a: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 unjustified driver cancellations; improve pickup location accuracy.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E7C449"/>
                </a:solidFill>
                <a:latin typeface="Canva Sans"/>
                <a:ea typeface="Canva Sans"/>
                <a:cs typeface="Canva Sans"/>
                <a:sym typeface="Canva Sans"/>
              </a:rPr>
              <a:t>Improve Wait Times: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Incentivize drivers in high-demand locations to reduce CTAT.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E7C449"/>
                </a:solidFill>
                <a:latin typeface="Canva Sans"/>
                <a:ea typeface="Canva Sans"/>
                <a:cs typeface="Canva Sans"/>
                <a:sym typeface="Canva Sans"/>
              </a:rPr>
              <a:t>Fleet Optimization: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Promote Premier / Uber XL to diversify revenue beyond Auto.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E7C449"/>
                </a:solidFill>
                <a:latin typeface="Canva Sans"/>
                <a:ea typeface="Canva Sans"/>
                <a:cs typeface="Canva Sans"/>
                <a:sym typeface="Canva Sans"/>
              </a:rPr>
              <a:t>Digital Payment Expansion: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Build on UPI dominance through wallet partnerships and digital incentives.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2342" y="954140"/>
            <a:ext cx="1549264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 of Findings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7676" y="2308861"/>
            <a:ext cx="7746324" cy="681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Serv</a:t>
            </a:r>
            <a:r>
              <a:rPr lang="en-US" sz="32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ice Reliability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62% completion rate; customer rating 4.4/5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Revenue Drivers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Auto &amp; UPI dominate revenue streams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DFCB64"/>
                </a:solidFill>
                <a:latin typeface="Arimo Bold"/>
                <a:ea typeface="Arimo Bold"/>
                <a:cs typeface="Arimo Bold"/>
                <a:sym typeface="Arimo Bold"/>
              </a:rPr>
              <a:t>Operational Bottlenecks</a:t>
            </a: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</a:p>
          <a:p>
            <a:pPr algn="l" marL="712476" indent="-356238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</a:t>
            </a: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river cancellations extremely high (72%)</a:t>
            </a:r>
          </a:p>
          <a:p>
            <a:pPr algn="l" marL="712476" indent="-356238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CTAT wait time 29.15 mins , a key driver of cancellations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45183" y="3313214"/>
            <a:ext cx="12597633" cy="370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Analatica Team:</a:t>
            </a:r>
          </a:p>
          <a:p>
            <a:pPr algn="ctr">
              <a:lnSpc>
                <a:spcPts val="9414"/>
              </a:lnSpc>
            </a:pPr>
          </a:p>
          <a:p>
            <a:pPr algn="ctr">
              <a:lnSpc>
                <a:spcPts val="9414"/>
              </a:lnSpc>
            </a:pPr>
            <a:r>
              <a:rPr lang="en-US" sz="9052" b="true">
                <a:solidFill>
                  <a:srgbClr val="E7C449"/>
                </a:solidFill>
                <a:latin typeface="Poppins Bold"/>
                <a:ea typeface="Poppins Bold"/>
                <a:cs typeface="Poppins Bold"/>
                <a:sym typeface="Poppins Bold"/>
              </a:rPr>
              <a:t>thanks, DEPI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DAG6BzqPon0</dc:identifier>
  <dcterms:modified xsi:type="dcterms:W3CDTF">2011-08-01T06:04:30Z</dcterms:modified>
  <cp:revision>1</cp:revision>
  <dc:title>Blue and White Modern Data Analysis Presentation</dc:title>
</cp:coreProperties>
</file>